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81" r:id="rId5"/>
    <p:sldId id="287" r:id="rId6"/>
    <p:sldId id="320" r:id="rId7"/>
    <p:sldId id="321" r:id="rId8"/>
    <p:sldId id="323" r:id="rId9"/>
    <p:sldId id="324" r:id="rId10"/>
    <p:sldId id="322" r:id="rId11"/>
    <p:sldId id="325" r:id="rId12"/>
    <p:sldId id="326" r:id="rId13"/>
    <p:sldId id="331" r:id="rId14"/>
    <p:sldId id="304" r:id="rId15"/>
    <p:sldId id="327" r:id="rId16"/>
    <p:sldId id="332" r:id="rId17"/>
    <p:sldId id="333" r:id="rId18"/>
    <p:sldId id="334" r:id="rId19"/>
    <p:sldId id="335" r:id="rId20"/>
    <p:sldId id="336" r:id="rId21"/>
    <p:sldId id="337" r:id="rId22"/>
    <p:sldId id="328" r:id="rId23"/>
    <p:sldId id="339" r:id="rId24"/>
    <p:sldId id="340" r:id="rId25"/>
    <p:sldId id="341" r:id="rId26"/>
    <p:sldId id="342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A1D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DC3F5-FFCF-4628-9C49-0CF955A63F71}" type="doc">
      <dgm:prSet loTypeId="urn:microsoft.com/office/officeart/2008/layout/VerticalCurvedList#2" loCatId="list" qsTypeId="urn:microsoft.com/office/officeart/2005/8/quickstyle/3d1#2" qsCatId="3D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01B06347-98ED-4D69-B312-76BE5717F4BE}">
      <dgm:prSet custT="1"/>
      <dgm:spPr/>
      <dgm:t>
        <a:bodyPr/>
        <a:lstStyle/>
        <a:p>
          <a:endParaRPr lang="en-US" sz="2000" b="0" i="0"/>
        </a:p>
      </dgm:t>
    </dgm:pt>
    <dgm:pt modelId="{40B6EFFD-DF5F-4FC2-9050-585F90F14DF4}" type="parTrans" cxnId="{C776AE58-5FFC-462B-8F65-3E644EB2E889}">
      <dgm:prSet/>
      <dgm:spPr/>
      <dgm:t>
        <a:bodyPr/>
        <a:lstStyle/>
        <a:p>
          <a:endParaRPr lang="en-US" sz="2000"/>
        </a:p>
      </dgm:t>
    </dgm:pt>
    <dgm:pt modelId="{61BA75AB-BDE0-4BB5-A35B-575F1893C84A}" type="sibTrans" cxnId="{C776AE58-5FFC-462B-8F65-3E644EB2E889}">
      <dgm:prSet/>
      <dgm:spPr/>
      <dgm:t>
        <a:bodyPr/>
        <a:lstStyle/>
        <a:p>
          <a:endParaRPr lang="en-US" sz="2000"/>
        </a:p>
      </dgm:t>
    </dgm:pt>
    <dgm:pt modelId="{765ED42D-701B-49CE-A54B-03B6F5118205}">
      <dgm:prSet phldrT="[Text]" custT="1"/>
      <dgm:spPr/>
      <dgm:t>
        <a:bodyPr/>
        <a:lstStyle/>
        <a:p>
          <a:endParaRPr lang="en-US" sz="2000" b="0" i="0" dirty="0"/>
        </a:p>
      </dgm:t>
    </dgm:pt>
    <dgm:pt modelId="{57D2E565-3F8F-4DCE-9909-5F215F4394FC}" type="sibTrans" cxnId="{38D2AC54-3159-45C2-990A-F1AC745040E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5491FC-30DA-446B-9D13-F2828EF4E5C0}" type="parTrans" cxnId="{38D2AC54-3159-45C2-990A-F1AC745040E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3DB97D-8168-4237-B77D-2B68BE8E1E53}">
      <dgm:prSet phldrT="[Text]" custT="1"/>
      <dgm:spPr/>
      <dgm:t>
        <a:bodyPr/>
        <a:lstStyle/>
        <a:p>
          <a:r>
            <a:rPr lang="en-US" sz="2000" b="0" i="0" dirty="0" err="1"/>
            <a:t>Thiết</a:t>
          </a:r>
          <a:r>
            <a:rPr lang="en-US" sz="2000" b="0" i="0" dirty="0"/>
            <a:t> </a:t>
          </a:r>
          <a:r>
            <a:rPr lang="en-US" sz="2000" b="0" i="0" dirty="0" err="1"/>
            <a:t>kế</a:t>
          </a:r>
          <a:r>
            <a:rPr lang="en-US" sz="2000" b="0" i="0" dirty="0"/>
            <a:t> Data Warehouse</a:t>
          </a:r>
        </a:p>
      </dgm:t>
    </dgm:pt>
    <dgm:pt modelId="{889D7198-6B40-4188-BA2A-94A206DE4A95}" type="parTrans" cxnId="{B1F57972-A667-4B6F-A144-2528173A1842}">
      <dgm:prSet/>
      <dgm:spPr/>
      <dgm:t>
        <a:bodyPr/>
        <a:lstStyle/>
        <a:p>
          <a:endParaRPr lang="en-US" sz="2000"/>
        </a:p>
      </dgm:t>
    </dgm:pt>
    <dgm:pt modelId="{2897863A-3112-4C49-8696-137A93B4D190}" type="sibTrans" cxnId="{B1F57972-A667-4B6F-A144-2528173A1842}">
      <dgm:prSet/>
      <dgm:spPr/>
      <dgm:t>
        <a:bodyPr/>
        <a:lstStyle/>
        <a:p>
          <a:endParaRPr lang="en-US" sz="2000"/>
        </a:p>
      </dgm:t>
    </dgm:pt>
    <dgm:pt modelId="{D4E318DB-1616-401D-B649-9A806286354F}">
      <dgm:prSet phldrT="[Text]" custT="1"/>
      <dgm:spPr/>
      <dgm:t>
        <a:bodyPr/>
        <a:lstStyle/>
        <a:p>
          <a:endParaRPr lang="en-US" sz="2000" b="0" i="0" dirty="0"/>
        </a:p>
      </dgm:t>
    </dgm:pt>
    <dgm:pt modelId="{953C7784-553E-4A72-9E79-BF7F847B12A8}" type="parTrans" cxnId="{0930ED40-DA98-4ADF-B9A9-F499DF49328A}">
      <dgm:prSet/>
      <dgm:spPr/>
      <dgm:t>
        <a:bodyPr/>
        <a:lstStyle/>
        <a:p>
          <a:endParaRPr lang="en-US" sz="2000"/>
        </a:p>
      </dgm:t>
    </dgm:pt>
    <dgm:pt modelId="{6E4EE620-6341-42D1-84EA-A99D5B036816}" type="sibTrans" cxnId="{0930ED40-DA98-4ADF-B9A9-F499DF49328A}">
      <dgm:prSet/>
      <dgm:spPr/>
      <dgm:t>
        <a:bodyPr/>
        <a:lstStyle/>
        <a:p>
          <a:endParaRPr lang="en-US" sz="2000"/>
        </a:p>
      </dgm:t>
    </dgm:pt>
    <dgm:pt modelId="{AA4E2953-23A4-45F6-B1CC-4653EA33C191}">
      <dgm:prSet phldrT="[Text]" custT="1"/>
      <dgm:spPr/>
      <dgm:t>
        <a:bodyPr/>
        <a:lstStyle/>
        <a:p>
          <a:r>
            <a:rPr lang="en-US" sz="2000" b="0" i="0" dirty="0" err="1"/>
            <a:t>Thiết</a:t>
          </a:r>
          <a:r>
            <a:rPr lang="en-US" sz="2000" b="0" i="0" dirty="0"/>
            <a:t> </a:t>
          </a:r>
          <a:r>
            <a:rPr lang="en-US" sz="2000" b="0" i="0" dirty="0" err="1"/>
            <a:t>kế</a:t>
          </a:r>
          <a:r>
            <a:rPr lang="en-US" sz="2000" b="0" i="0" dirty="0"/>
            <a:t> ETL </a:t>
          </a:r>
        </a:p>
      </dgm:t>
    </dgm:pt>
    <dgm:pt modelId="{011CF3D5-6301-47D1-879F-36E31B0ED589}" type="parTrans" cxnId="{26819F73-6E66-4888-8355-C754160AF8C5}">
      <dgm:prSet/>
      <dgm:spPr/>
      <dgm:t>
        <a:bodyPr/>
        <a:lstStyle/>
        <a:p>
          <a:endParaRPr lang="en-US" sz="2000"/>
        </a:p>
      </dgm:t>
    </dgm:pt>
    <dgm:pt modelId="{E9031591-99CF-4ABC-88AD-52690EA660E1}" type="sibTrans" cxnId="{26819F73-6E66-4888-8355-C754160AF8C5}">
      <dgm:prSet/>
      <dgm:spPr/>
      <dgm:t>
        <a:bodyPr/>
        <a:lstStyle/>
        <a:p>
          <a:endParaRPr lang="en-US" sz="2000"/>
        </a:p>
      </dgm:t>
    </dgm:pt>
    <dgm:pt modelId="{BC66DEFF-1632-4D08-83DB-4DEA7ED479F9}">
      <dgm:prSet phldrT="[Text]"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Bài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DWH - ETL </a:t>
          </a:r>
        </a:p>
      </dgm:t>
    </dgm:pt>
    <dgm:pt modelId="{355B4E47-D6C8-4AE5-8226-99075ACB659C}" type="sibTrans" cxnId="{3C96C6B1-4E87-4DD6-89AE-B6306E1885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C06F38-2E27-40F1-AA13-ED66652615BB}" type="parTrans" cxnId="{3C96C6B1-4E87-4DD6-89AE-B6306E1885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82E217-6054-4191-8FBA-E4AE2F5B596E}" type="pres">
      <dgm:prSet presAssocID="{969DC3F5-FFCF-4628-9C49-0CF955A63F71}" presName="Name0" presStyleCnt="0">
        <dgm:presLayoutVars>
          <dgm:chMax val="7"/>
          <dgm:chPref val="7"/>
          <dgm:dir/>
        </dgm:presLayoutVars>
      </dgm:prSet>
      <dgm:spPr/>
    </dgm:pt>
    <dgm:pt modelId="{D71FD251-9640-4FA4-990A-E75F68114323}" type="pres">
      <dgm:prSet presAssocID="{969DC3F5-FFCF-4628-9C49-0CF955A63F71}" presName="Name1" presStyleCnt="0"/>
      <dgm:spPr/>
    </dgm:pt>
    <dgm:pt modelId="{1A081858-C8CE-4B79-90ED-6E73C827DAEB}" type="pres">
      <dgm:prSet presAssocID="{969DC3F5-FFCF-4628-9C49-0CF955A63F71}" presName="cycle" presStyleCnt="0"/>
      <dgm:spPr/>
    </dgm:pt>
    <dgm:pt modelId="{4D718AE4-54E6-4514-AE0F-4DEC0E8228AF}" type="pres">
      <dgm:prSet presAssocID="{969DC3F5-FFCF-4628-9C49-0CF955A63F71}" presName="srcNode" presStyleLbl="node1" presStyleIdx="0" presStyleCnt="6"/>
      <dgm:spPr/>
    </dgm:pt>
    <dgm:pt modelId="{ED28BA54-AC82-4A6F-BE30-AA25E7B1C5B8}" type="pres">
      <dgm:prSet presAssocID="{969DC3F5-FFCF-4628-9C49-0CF955A63F71}" presName="conn" presStyleLbl="parChTrans1D2" presStyleIdx="0" presStyleCnt="1"/>
      <dgm:spPr/>
    </dgm:pt>
    <dgm:pt modelId="{C7A88F8A-87E5-4AF1-BED3-AD3618CA6642}" type="pres">
      <dgm:prSet presAssocID="{969DC3F5-FFCF-4628-9C49-0CF955A63F71}" presName="extraNode" presStyleLbl="node1" presStyleIdx="0" presStyleCnt="6"/>
      <dgm:spPr/>
    </dgm:pt>
    <dgm:pt modelId="{AD582617-7393-40D4-8C9D-A59374BBB319}" type="pres">
      <dgm:prSet presAssocID="{969DC3F5-FFCF-4628-9C49-0CF955A63F71}" presName="dstNode" presStyleLbl="node1" presStyleIdx="0" presStyleCnt="6"/>
      <dgm:spPr/>
    </dgm:pt>
    <dgm:pt modelId="{8BE70C21-E52A-4CDF-86A7-9778EE69EFB1}" type="pres">
      <dgm:prSet presAssocID="{BC66DEFF-1632-4D08-83DB-4DEA7ED479F9}" presName="text_1" presStyleLbl="node1" presStyleIdx="0" presStyleCnt="6">
        <dgm:presLayoutVars>
          <dgm:bulletEnabled val="1"/>
        </dgm:presLayoutVars>
      </dgm:prSet>
      <dgm:spPr/>
    </dgm:pt>
    <dgm:pt modelId="{67E34ED1-7213-40B7-A6E6-B178976DA9EA}" type="pres">
      <dgm:prSet presAssocID="{BC66DEFF-1632-4D08-83DB-4DEA7ED479F9}" presName="accent_1" presStyleCnt="0"/>
      <dgm:spPr/>
    </dgm:pt>
    <dgm:pt modelId="{34F9CDC6-485D-41F7-84C7-A306A8ED9888}" type="pres">
      <dgm:prSet presAssocID="{BC66DEFF-1632-4D08-83DB-4DEA7ED479F9}" presName="accentRepeatNode" presStyleLbl="solidFgAcc1" presStyleIdx="0" presStyleCnt="6"/>
      <dgm:spPr/>
    </dgm:pt>
    <dgm:pt modelId="{3864E7E4-4648-4526-A980-83FE5FE0F45E}" type="pres">
      <dgm:prSet presAssocID="{A23DB97D-8168-4237-B77D-2B68BE8E1E53}" presName="text_2" presStyleLbl="node1" presStyleIdx="1" presStyleCnt="6">
        <dgm:presLayoutVars>
          <dgm:bulletEnabled val="1"/>
        </dgm:presLayoutVars>
      </dgm:prSet>
      <dgm:spPr/>
    </dgm:pt>
    <dgm:pt modelId="{682F9A7C-2442-4917-8966-998999D88A16}" type="pres">
      <dgm:prSet presAssocID="{A23DB97D-8168-4237-B77D-2B68BE8E1E53}" presName="accent_2" presStyleCnt="0"/>
      <dgm:spPr/>
    </dgm:pt>
    <dgm:pt modelId="{67A0D5C6-9593-4056-AC03-682FA5BAA012}" type="pres">
      <dgm:prSet presAssocID="{A23DB97D-8168-4237-B77D-2B68BE8E1E53}" presName="accentRepeatNode" presStyleLbl="solidFgAcc1" presStyleIdx="1" presStyleCnt="6"/>
      <dgm:spPr/>
    </dgm:pt>
    <dgm:pt modelId="{DCB34D92-A3CA-438F-A80D-0FE4FA1C86E4}" type="pres">
      <dgm:prSet presAssocID="{AA4E2953-23A4-45F6-B1CC-4653EA33C191}" presName="text_3" presStyleLbl="node1" presStyleIdx="2" presStyleCnt="6">
        <dgm:presLayoutVars>
          <dgm:bulletEnabled val="1"/>
        </dgm:presLayoutVars>
      </dgm:prSet>
      <dgm:spPr/>
    </dgm:pt>
    <dgm:pt modelId="{B5257AC4-2DE0-4FF5-B9D9-4F36A072C7B0}" type="pres">
      <dgm:prSet presAssocID="{AA4E2953-23A4-45F6-B1CC-4653EA33C191}" presName="accent_3" presStyleCnt="0"/>
      <dgm:spPr/>
    </dgm:pt>
    <dgm:pt modelId="{B3A1DA42-E389-4131-A0C7-889016ABBF7E}" type="pres">
      <dgm:prSet presAssocID="{AA4E2953-23A4-45F6-B1CC-4653EA33C191}" presName="accentRepeatNode" presStyleLbl="solidFgAcc1" presStyleIdx="2" presStyleCnt="6"/>
      <dgm:spPr/>
    </dgm:pt>
    <dgm:pt modelId="{CA7D4260-CAC7-4EA8-A1FB-2A6BA3AB2FF5}" type="pres">
      <dgm:prSet presAssocID="{765ED42D-701B-49CE-A54B-03B6F5118205}" presName="text_4" presStyleLbl="node1" presStyleIdx="3" presStyleCnt="6">
        <dgm:presLayoutVars>
          <dgm:bulletEnabled val="1"/>
        </dgm:presLayoutVars>
      </dgm:prSet>
      <dgm:spPr/>
    </dgm:pt>
    <dgm:pt modelId="{41A7B703-E148-4832-9E8F-B62BBF026BA6}" type="pres">
      <dgm:prSet presAssocID="{765ED42D-701B-49CE-A54B-03B6F5118205}" presName="accent_4" presStyleCnt="0"/>
      <dgm:spPr/>
    </dgm:pt>
    <dgm:pt modelId="{6445F65C-926F-4C72-9586-829AF4A95DC8}" type="pres">
      <dgm:prSet presAssocID="{765ED42D-701B-49CE-A54B-03B6F5118205}" presName="accentRepeatNode" presStyleLbl="solidFgAcc1" presStyleIdx="3" presStyleCnt="6"/>
      <dgm:spPr/>
    </dgm:pt>
    <dgm:pt modelId="{3A74C5E7-2882-4C4E-BA28-BCC9A7CB04B8}" type="pres">
      <dgm:prSet presAssocID="{D4E318DB-1616-401D-B649-9A806286354F}" presName="text_5" presStyleLbl="node1" presStyleIdx="4" presStyleCnt="6">
        <dgm:presLayoutVars>
          <dgm:bulletEnabled val="1"/>
        </dgm:presLayoutVars>
      </dgm:prSet>
      <dgm:spPr/>
    </dgm:pt>
    <dgm:pt modelId="{3E2D4D34-2041-4B09-A12E-EB2F0D781979}" type="pres">
      <dgm:prSet presAssocID="{D4E318DB-1616-401D-B649-9A806286354F}" presName="accent_5" presStyleCnt="0"/>
      <dgm:spPr/>
    </dgm:pt>
    <dgm:pt modelId="{746CCD20-C2FF-401A-BE0F-A9DAA073E3AF}" type="pres">
      <dgm:prSet presAssocID="{D4E318DB-1616-401D-B649-9A806286354F}" presName="accentRepeatNode" presStyleLbl="solidFgAcc1" presStyleIdx="4" presStyleCnt="6"/>
      <dgm:spPr/>
    </dgm:pt>
    <dgm:pt modelId="{D8D0A957-3410-466F-8D18-6B1CD5B2EA17}" type="pres">
      <dgm:prSet presAssocID="{01B06347-98ED-4D69-B312-76BE5717F4BE}" presName="text_6" presStyleLbl="node1" presStyleIdx="5" presStyleCnt="6">
        <dgm:presLayoutVars>
          <dgm:bulletEnabled val="1"/>
        </dgm:presLayoutVars>
      </dgm:prSet>
      <dgm:spPr/>
    </dgm:pt>
    <dgm:pt modelId="{DAD02BAE-F4B3-42CA-836C-E1798A378C2A}" type="pres">
      <dgm:prSet presAssocID="{01B06347-98ED-4D69-B312-76BE5717F4BE}" presName="accent_6" presStyleCnt="0"/>
      <dgm:spPr/>
    </dgm:pt>
    <dgm:pt modelId="{BE34A9E9-1A1B-4907-AFC7-6335B607B1CE}" type="pres">
      <dgm:prSet presAssocID="{01B06347-98ED-4D69-B312-76BE5717F4BE}" presName="accentRepeatNode" presStyleLbl="solidFgAcc1" presStyleIdx="5" presStyleCnt="6"/>
      <dgm:spPr/>
    </dgm:pt>
  </dgm:ptLst>
  <dgm:cxnLst>
    <dgm:cxn modelId="{F5E3DE25-B577-408D-9643-D80D7990DE95}" type="presOf" srcId="{D4E318DB-1616-401D-B649-9A806286354F}" destId="{3A74C5E7-2882-4C4E-BA28-BCC9A7CB04B8}" srcOrd="0" destOrd="0" presId="urn:microsoft.com/office/officeart/2008/layout/VerticalCurvedList#2"/>
    <dgm:cxn modelId="{0930ED40-DA98-4ADF-B9A9-F499DF49328A}" srcId="{969DC3F5-FFCF-4628-9C49-0CF955A63F71}" destId="{D4E318DB-1616-401D-B649-9A806286354F}" srcOrd="4" destOrd="0" parTransId="{953C7784-553E-4A72-9E79-BF7F847B12A8}" sibTransId="{6E4EE620-6341-42D1-84EA-A99D5B036816}"/>
    <dgm:cxn modelId="{6538795D-902F-424B-AF5C-7CB81B5535F1}" type="presOf" srcId="{765ED42D-701B-49CE-A54B-03B6F5118205}" destId="{CA7D4260-CAC7-4EA8-A1FB-2A6BA3AB2FF5}" srcOrd="0" destOrd="0" presId="urn:microsoft.com/office/officeart/2008/layout/VerticalCurvedList#2"/>
    <dgm:cxn modelId="{B1F57972-A667-4B6F-A144-2528173A1842}" srcId="{969DC3F5-FFCF-4628-9C49-0CF955A63F71}" destId="{A23DB97D-8168-4237-B77D-2B68BE8E1E53}" srcOrd="1" destOrd="0" parTransId="{889D7198-6B40-4188-BA2A-94A206DE4A95}" sibTransId="{2897863A-3112-4C49-8696-137A93B4D190}"/>
    <dgm:cxn modelId="{26819F73-6E66-4888-8355-C754160AF8C5}" srcId="{969DC3F5-FFCF-4628-9C49-0CF955A63F71}" destId="{AA4E2953-23A4-45F6-B1CC-4653EA33C191}" srcOrd="2" destOrd="0" parTransId="{011CF3D5-6301-47D1-879F-36E31B0ED589}" sibTransId="{E9031591-99CF-4ABC-88AD-52690EA660E1}"/>
    <dgm:cxn modelId="{38D2AC54-3159-45C2-990A-F1AC745040EE}" srcId="{969DC3F5-FFCF-4628-9C49-0CF955A63F71}" destId="{765ED42D-701B-49CE-A54B-03B6F5118205}" srcOrd="3" destOrd="0" parTransId="{955491FC-30DA-446B-9D13-F2828EF4E5C0}" sibTransId="{57D2E565-3F8F-4DCE-9909-5F215F4394FC}"/>
    <dgm:cxn modelId="{C776AE58-5FFC-462B-8F65-3E644EB2E889}" srcId="{969DC3F5-FFCF-4628-9C49-0CF955A63F71}" destId="{01B06347-98ED-4D69-B312-76BE5717F4BE}" srcOrd="5" destOrd="0" parTransId="{40B6EFFD-DF5F-4FC2-9050-585F90F14DF4}" sibTransId="{61BA75AB-BDE0-4BB5-A35B-575F1893C84A}"/>
    <dgm:cxn modelId="{D85B677C-75C4-4FBE-A90F-8F382214A901}" type="presOf" srcId="{01B06347-98ED-4D69-B312-76BE5717F4BE}" destId="{D8D0A957-3410-466F-8D18-6B1CD5B2EA17}" srcOrd="0" destOrd="0" presId="urn:microsoft.com/office/officeart/2008/layout/VerticalCurvedList#2"/>
    <dgm:cxn modelId="{0634EA87-F80C-4C05-B52A-69ADCF3715F0}" type="presOf" srcId="{BC66DEFF-1632-4D08-83DB-4DEA7ED479F9}" destId="{8BE70C21-E52A-4CDF-86A7-9778EE69EFB1}" srcOrd="0" destOrd="0" presId="urn:microsoft.com/office/officeart/2008/layout/VerticalCurvedList#2"/>
    <dgm:cxn modelId="{3C96C6B1-4E87-4DD6-89AE-B6306E188548}" srcId="{969DC3F5-FFCF-4628-9C49-0CF955A63F71}" destId="{BC66DEFF-1632-4D08-83DB-4DEA7ED479F9}" srcOrd="0" destOrd="0" parTransId="{99C06F38-2E27-40F1-AA13-ED66652615BB}" sibTransId="{355B4E47-D6C8-4AE5-8226-99075ACB659C}"/>
    <dgm:cxn modelId="{E1A1B5B5-C2A0-4539-ABC4-831C539086C0}" type="presOf" srcId="{969DC3F5-FFCF-4628-9C49-0CF955A63F71}" destId="{8682E217-6054-4191-8FBA-E4AE2F5B596E}" srcOrd="0" destOrd="0" presId="urn:microsoft.com/office/officeart/2008/layout/VerticalCurvedList#2"/>
    <dgm:cxn modelId="{4B50EEBB-E66F-4C2D-9818-FAACE5BED0B0}" type="presOf" srcId="{AA4E2953-23A4-45F6-B1CC-4653EA33C191}" destId="{DCB34D92-A3CA-438F-A80D-0FE4FA1C86E4}" srcOrd="0" destOrd="0" presId="urn:microsoft.com/office/officeart/2008/layout/VerticalCurvedList#2"/>
    <dgm:cxn modelId="{C411B2D8-E6FA-43D7-9396-C2EA8B5B83E7}" type="presOf" srcId="{355B4E47-D6C8-4AE5-8226-99075ACB659C}" destId="{ED28BA54-AC82-4A6F-BE30-AA25E7B1C5B8}" srcOrd="0" destOrd="0" presId="urn:microsoft.com/office/officeart/2008/layout/VerticalCurvedList#2"/>
    <dgm:cxn modelId="{5499DFFE-1B72-4B24-8570-2F1BBAFB8DC3}" type="presOf" srcId="{A23DB97D-8168-4237-B77D-2B68BE8E1E53}" destId="{3864E7E4-4648-4526-A980-83FE5FE0F45E}" srcOrd="0" destOrd="0" presId="urn:microsoft.com/office/officeart/2008/layout/VerticalCurvedList#2"/>
    <dgm:cxn modelId="{F911E667-702D-459F-BB60-112F8E74F9F7}" type="presParOf" srcId="{8682E217-6054-4191-8FBA-E4AE2F5B596E}" destId="{D71FD251-9640-4FA4-990A-E75F68114323}" srcOrd="0" destOrd="0" presId="urn:microsoft.com/office/officeart/2008/layout/VerticalCurvedList#2"/>
    <dgm:cxn modelId="{9D4BB597-89B2-4270-B54D-25F8453F9325}" type="presParOf" srcId="{D71FD251-9640-4FA4-990A-E75F68114323}" destId="{1A081858-C8CE-4B79-90ED-6E73C827DAEB}" srcOrd="0" destOrd="0" presId="urn:microsoft.com/office/officeart/2008/layout/VerticalCurvedList#2"/>
    <dgm:cxn modelId="{B781E249-9A20-42E2-9127-E76A5C19DD9B}" type="presParOf" srcId="{1A081858-C8CE-4B79-90ED-6E73C827DAEB}" destId="{4D718AE4-54E6-4514-AE0F-4DEC0E8228AF}" srcOrd="0" destOrd="0" presId="urn:microsoft.com/office/officeart/2008/layout/VerticalCurvedList#2"/>
    <dgm:cxn modelId="{B4F34F9A-9328-4594-BBCE-74BFB97C630D}" type="presParOf" srcId="{1A081858-C8CE-4B79-90ED-6E73C827DAEB}" destId="{ED28BA54-AC82-4A6F-BE30-AA25E7B1C5B8}" srcOrd="1" destOrd="0" presId="urn:microsoft.com/office/officeart/2008/layout/VerticalCurvedList#2"/>
    <dgm:cxn modelId="{94BEC77D-15B9-43E5-AB73-2BE21E72DB29}" type="presParOf" srcId="{1A081858-C8CE-4B79-90ED-6E73C827DAEB}" destId="{C7A88F8A-87E5-4AF1-BED3-AD3618CA6642}" srcOrd="2" destOrd="0" presId="urn:microsoft.com/office/officeart/2008/layout/VerticalCurvedList#2"/>
    <dgm:cxn modelId="{9ACEDE79-BDE6-44E0-8F62-E4E7DF0FA1ED}" type="presParOf" srcId="{1A081858-C8CE-4B79-90ED-6E73C827DAEB}" destId="{AD582617-7393-40D4-8C9D-A59374BBB319}" srcOrd="3" destOrd="0" presId="urn:microsoft.com/office/officeart/2008/layout/VerticalCurvedList#2"/>
    <dgm:cxn modelId="{701350A0-2B76-494C-A19F-2900D3AF9738}" type="presParOf" srcId="{D71FD251-9640-4FA4-990A-E75F68114323}" destId="{8BE70C21-E52A-4CDF-86A7-9778EE69EFB1}" srcOrd="1" destOrd="0" presId="urn:microsoft.com/office/officeart/2008/layout/VerticalCurvedList#2"/>
    <dgm:cxn modelId="{CBA8C130-56FA-4D0D-A0F0-7F853DDD969F}" type="presParOf" srcId="{D71FD251-9640-4FA4-990A-E75F68114323}" destId="{67E34ED1-7213-40B7-A6E6-B178976DA9EA}" srcOrd="2" destOrd="0" presId="urn:microsoft.com/office/officeart/2008/layout/VerticalCurvedList#2"/>
    <dgm:cxn modelId="{55FBA083-1F60-4EA2-89BC-ACECF63A95C8}" type="presParOf" srcId="{67E34ED1-7213-40B7-A6E6-B178976DA9EA}" destId="{34F9CDC6-485D-41F7-84C7-A306A8ED9888}" srcOrd="0" destOrd="0" presId="urn:microsoft.com/office/officeart/2008/layout/VerticalCurvedList#2"/>
    <dgm:cxn modelId="{D54B2A5C-0BF5-486B-BEEF-6C374E10250C}" type="presParOf" srcId="{D71FD251-9640-4FA4-990A-E75F68114323}" destId="{3864E7E4-4648-4526-A980-83FE5FE0F45E}" srcOrd="3" destOrd="0" presId="urn:microsoft.com/office/officeart/2008/layout/VerticalCurvedList#2"/>
    <dgm:cxn modelId="{5AD63224-8C42-4916-8094-A7A0F277B2E6}" type="presParOf" srcId="{D71FD251-9640-4FA4-990A-E75F68114323}" destId="{682F9A7C-2442-4917-8966-998999D88A16}" srcOrd="4" destOrd="0" presId="urn:microsoft.com/office/officeart/2008/layout/VerticalCurvedList#2"/>
    <dgm:cxn modelId="{C0AAE41A-7D36-4366-BFC7-60EEBC036BF3}" type="presParOf" srcId="{682F9A7C-2442-4917-8966-998999D88A16}" destId="{67A0D5C6-9593-4056-AC03-682FA5BAA012}" srcOrd="0" destOrd="0" presId="urn:microsoft.com/office/officeart/2008/layout/VerticalCurvedList#2"/>
    <dgm:cxn modelId="{0BE8F287-B041-41A1-84E9-66A589B65F9A}" type="presParOf" srcId="{D71FD251-9640-4FA4-990A-E75F68114323}" destId="{DCB34D92-A3CA-438F-A80D-0FE4FA1C86E4}" srcOrd="5" destOrd="0" presId="urn:microsoft.com/office/officeart/2008/layout/VerticalCurvedList#2"/>
    <dgm:cxn modelId="{4832D803-DC1A-4E22-9F73-874272E9DD97}" type="presParOf" srcId="{D71FD251-9640-4FA4-990A-E75F68114323}" destId="{B5257AC4-2DE0-4FF5-B9D9-4F36A072C7B0}" srcOrd="6" destOrd="0" presId="urn:microsoft.com/office/officeart/2008/layout/VerticalCurvedList#2"/>
    <dgm:cxn modelId="{F0944D88-1300-4BC2-9AAC-DF0943717279}" type="presParOf" srcId="{B5257AC4-2DE0-4FF5-B9D9-4F36A072C7B0}" destId="{B3A1DA42-E389-4131-A0C7-889016ABBF7E}" srcOrd="0" destOrd="0" presId="urn:microsoft.com/office/officeart/2008/layout/VerticalCurvedList#2"/>
    <dgm:cxn modelId="{E870C1E1-0538-4974-9DDB-E34FDDA4689F}" type="presParOf" srcId="{D71FD251-9640-4FA4-990A-E75F68114323}" destId="{CA7D4260-CAC7-4EA8-A1FB-2A6BA3AB2FF5}" srcOrd="7" destOrd="0" presId="urn:microsoft.com/office/officeart/2008/layout/VerticalCurvedList#2"/>
    <dgm:cxn modelId="{C288AEA3-A6D4-4FB3-83ED-E9B742835239}" type="presParOf" srcId="{D71FD251-9640-4FA4-990A-E75F68114323}" destId="{41A7B703-E148-4832-9E8F-B62BBF026BA6}" srcOrd="8" destOrd="0" presId="urn:microsoft.com/office/officeart/2008/layout/VerticalCurvedList#2"/>
    <dgm:cxn modelId="{A6D608CA-DE40-4488-8537-7D02A9361D85}" type="presParOf" srcId="{41A7B703-E148-4832-9E8F-B62BBF026BA6}" destId="{6445F65C-926F-4C72-9586-829AF4A95DC8}" srcOrd="0" destOrd="0" presId="urn:microsoft.com/office/officeart/2008/layout/VerticalCurvedList#2"/>
    <dgm:cxn modelId="{24B38832-AB49-421A-A9CC-D6E3BF8E60F1}" type="presParOf" srcId="{D71FD251-9640-4FA4-990A-E75F68114323}" destId="{3A74C5E7-2882-4C4E-BA28-BCC9A7CB04B8}" srcOrd="9" destOrd="0" presId="urn:microsoft.com/office/officeart/2008/layout/VerticalCurvedList#2"/>
    <dgm:cxn modelId="{2358E6C1-FD09-4EFE-8E9C-80C5F3AC064B}" type="presParOf" srcId="{D71FD251-9640-4FA4-990A-E75F68114323}" destId="{3E2D4D34-2041-4B09-A12E-EB2F0D781979}" srcOrd="10" destOrd="0" presId="urn:microsoft.com/office/officeart/2008/layout/VerticalCurvedList#2"/>
    <dgm:cxn modelId="{65B57E75-6183-4168-85C2-1491C4B17048}" type="presParOf" srcId="{3E2D4D34-2041-4B09-A12E-EB2F0D781979}" destId="{746CCD20-C2FF-401A-BE0F-A9DAA073E3AF}" srcOrd="0" destOrd="0" presId="urn:microsoft.com/office/officeart/2008/layout/VerticalCurvedList#2"/>
    <dgm:cxn modelId="{A58324E4-F418-4B46-896A-0B84511947FC}" type="presParOf" srcId="{D71FD251-9640-4FA4-990A-E75F68114323}" destId="{D8D0A957-3410-466F-8D18-6B1CD5B2EA17}" srcOrd="11" destOrd="0" presId="urn:microsoft.com/office/officeart/2008/layout/VerticalCurvedList#2"/>
    <dgm:cxn modelId="{5E413D46-3BD2-40EA-8AE4-149A5B03D363}" type="presParOf" srcId="{D71FD251-9640-4FA4-990A-E75F68114323}" destId="{DAD02BAE-F4B3-42CA-836C-E1798A378C2A}" srcOrd="12" destOrd="0" presId="urn:microsoft.com/office/officeart/2008/layout/VerticalCurvedList#2"/>
    <dgm:cxn modelId="{A8828975-CDC8-4B53-BF7B-848F661A5061}" type="presParOf" srcId="{DAD02BAE-F4B3-42CA-836C-E1798A378C2A}" destId="{BE34A9E9-1A1B-4907-AFC7-6335B607B1CE}" srcOrd="0" destOrd="0" presId="urn:microsoft.com/office/officeart/2008/layout/VerticalCurved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8BA54-AC82-4A6F-BE30-AA25E7B1C5B8}">
      <dsp:nvSpPr>
        <dsp:cNvPr id="0" name=""/>
        <dsp:cNvSpPr/>
      </dsp:nvSpPr>
      <dsp:spPr>
        <a:xfrm>
          <a:off x="-5757563" y="-881249"/>
          <a:ext cx="6854646" cy="6854646"/>
        </a:xfrm>
        <a:prstGeom prst="blockArc">
          <a:avLst>
            <a:gd name="adj1" fmla="val 18900000"/>
            <a:gd name="adj2" fmla="val 2700000"/>
            <a:gd name="adj3" fmla="val 31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E70C21-E52A-4CDF-86A7-9778EE69EFB1}">
      <dsp:nvSpPr>
        <dsp:cNvPr id="0" name=""/>
        <dsp:cNvSpPr/>
      </dsp:nvSpPr>
      <dsp:spPr>
        <a:xfrm>
          <a:off x="408764" y="268152"/>
          <a:ext cx="7129615" cy="5361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Bài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DWH - ETL </a:t>
          </a:r>
        </a:p>
      </dsp:txBody>
      <dsp:txXfrm>
        <a:off x="408764" y="268152"/>
        <a:ext cx="7129615" cy="536101"/>
      </dsp:txXfrm>
    </dsp:sp>
    <dsp:sp modelId="{34F9CDC6-485D-41F7-84C7-A306A8ED9888}">
      <dsp:nvSpPr>
        <dsp:cNvPr id="0" name=""/>
        <dsp:cNvSpPr/>
      </dsp:nvSpPr>
      <dsp:spPr>
        <a:xfrm>
          <a:off x="73701" y="201139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64E7E4-4648-4526-A980-83FE5FE0F45E}">
      <dsp:nvSpPr>
        <dsp:cNvPr id="0" name=""/>
        <dsp:cNvSpPr/>
      </dsp:nvSpPr>
      <dsp:spPr>
        <a:xfrm>
          <a:off x="849744" y="1072202"/>
          <a:ext cx="6688635" cy="5361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Thiết</a:t>
          </a:r>
          <a:r>
            <a:rPr lang="en-US" sz="2000" b="0" i="0" kern="1200" dirty="0"/>
            <a:t> </a:t>
          </a:r>
          <a:r>
            <a:rPr lang="en-US" sz="2000" b="0" i="0" kern="1200" dirty="0" err="1"/>
            <a:t>kế</a:t>
          </a:r>
          <a:r>
            <a:rPr lang="en-US" sz="2000" b="0" i="0" kern="1200" dirty="0"/>
            <a:t> Data Warehouse</a:t>
          </a:r>
        </a:p>
      </dsp:txBody>
      <dsp:txXfrm>
        <a:off x="849744" y="1072202"/>
        <a:ext cx="6688635" cy="536101"/>
      </dsp:txXfrm>
    </dsp:sp>
    <dsp:sp modelId="{67A0D5C6-9593-4056-AC03-682FA5BAA012}">
      <dsp:nvSpPr>
        <dsp:cNvPr id="0" name=""/>
        <dsp:cNvSpPr/>
      </dsp:nvSpPr>
      <dsp:spPr>
        <a:xfrm>
          <a:off x="514681" y="1005190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CB34D92-A3CA-438F-A80D-0FE4FA1C86E4}">
      <dsp:nvSpPr>
        <dsp:cNvPr id="0" name=""/>
        <dsp:cNvSpPr/>
      </dsp:nvSpPr>
      <dsp:spPr>
        <a:xfrm>
          <a:off x="1051393" y="1876252"/>
          <a:ext cx="6486986" cy="5361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Thiết</a:t>
          </a:r>
          <a:r>
            <a:rPr lang="en-US" sz="2000" b="0" i="0" kern="1200" dirty="0"/>
            <a:t> </a:t>
          </a:r>
          <a:r>
            <a:rPr lang="en-US" sz="2000" b="0" i="0" kern="1200" dirty="0" err="1"/>
            <a:t>kế</a:t>
          </a:r>
          <a:r>
            <a:rPr lang="en-US" sz="2000" b="0" i="0" kern="1200" dirty="0"/>
            <a:t> ETL </a:t>
          </a:r>
        </a:p>
      </dsp:txBody>
      <dsp:txXfrm>
        <a:off x="1051393" y="1876252"/>
        <a:ext cx="6486986" cy="536101"/>
      </dsp:txXfrm>
    </dsp:sp>
    <dsp:sp modelId="{B3A1DA42-E389-4131-A0C7-889016ABBF7E}">
      <dsp:nvSpPr>
        <dsp:cNvPr id="0" name=""/>
        <dsp:cNvSpPr/>
      </dsp:nvSpPr>
      <dsp:spPr>
        <a:xfrm>
          <a:off x="716330" y="1809240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A7D4260-CAC7-4EA8-A1FB-2A6BA3AB2FF5}">
      <dsp:nvSpPr>
        <dsp:cNvPr id="0" name=""/>
        <dsp:cNvSpPr/>
      </dsp:nvSpPr>
      <dsp:spPr>
        <a:xfrm>
          <a:off x="1051393" y="2679793"/>
          <a:ext cx="6486986" cy="5361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i="0" kern="1200" dirty="0"/>
        </a:p>
      </dsp:txBody>
      <dsp:txXfrm>
        <a:off x="1051393" y="2679793"/>
        <a:ext cx="6486986" cy="536101"/>
      </dsp:txXfrm>
    </dsp:sp>
    <dsp:sp modelId="{6445F65C-926F-4C72-9586-829AF4A95DC8}">
      <dsp:nvSpPr>
        <dsp:cNvPr id="0" name=""/>
        <dsp:cNvSpPr/>
      </dsp:nvSpPr>
      <dsp:spPr>
        <a:xfrm>
          <a:off x="716330" y="261278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74C5E7-2882-4C4E-BA28-BCC9A7CB04B8}">
      <dsp:nvSpPr>
        <dsp:cNvPr id="0" name=""/>
        <dsp:cNvSpPr/>
      </dsp:nvSpPr>
      <dsp:spPr>
        <a:xfrm>
          <a:off x="849744" y="3483843"/>
          <a:ext cx="6688635" cy="5361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i="0" kern="1200" dirty="0"/>
        </a:p>
      </dsp:txBody>
      <dsp:txXfrm>
        <a:off x="849744" y="3483843"/>
        <a:ext cx="6688635" cy="536101"/>
      </dsp:txXfrm>
    </dsp:sp>
    <dsp:sp modelId="{746CCD20-C2FF-401A-BE0F-A9DAA073E3AF}">
      <dsp:nvSpPr>
        <dsp:cNvPr id="0" name=""/>
        <dsp:cNvSpPr/>
      </dsp:nvSpPr>
      <dsp:spPr>
        <a:xfrm>
          <a:off x="514681" y="341683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D0A957-3410-466F-8D18-6B1CD5B2EA17}">
      <dsp:nvSpPr>
        <dsp:cNvPr id="0" name=""/>
        <dsp:cNvSpPr/>
      </dsp:nvSpPr>
      <dsp:spPr>
        <a:xfrm>
          <a:off x="408764" y="4287894"/>
          <a:ext cx="7129615" cy="5361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i="0" kern="1200"/>
        </a:p>
      </dsp:txBody>
      <dsp:txXfrm>
        <a:off x="408764" y="4287894"/>
        <a:ext cx="7129615" cy="536101"/>
      </dsp:txXfrm>
    </dsp:sp>
    <dsp:sp modelId="{BE34A9E9-1A1B-4907-AFC7-6335B607B1CE}">
      <dsp:nvSpPr>
        <dsp:cNvPr id="0" name=""/>
        <dsp:cNvSpPr/>
      </dsp:nvSpPr>
      <dsp:spPr>
        <a:xfrm>
          <a:off x="73701" y="422088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2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2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ACA19-63F0-472A-B760-6348F3BD0BF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96D59-0EC1-4A81-B8B1-B3FBC9E1FC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59785-3943-446D-B78A-E6B901B9DED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B4D6-50B3-4213-9775-AA6E5BF2053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0D57-1289-4C02-9EEF-C8570F57B2B1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1352-848A-4480-8D55-03A556BE99CE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9FAB-6DB6-4227-A73A-A8A0B53312EE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F26C-39BF-4523-B808-B4744A603E21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66CD-F691-4D25-84EB-2452953BECE2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51B9-23F2-49B5-9A23-F37F5C858236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A0A32-851E-4462-99F1-E65A7F867A8B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26CD-530D-4556-BBBB-0531C0514CA5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ED2E-C9A4-4600-B684-57670EDD691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628CF-E86E-4460-8BED-F08ABE0CEF3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hyperlink" Target="https://learn.microsoft.com/en-us/sql/samples/adventureworks-install-configure?view=sql-server-ver16&amp;tabs=ssm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3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2851" y="2125015"/>
            <a:ext cx="80020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DWH-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0003" y="3567889"/>
            <a:ext cx="53671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Trình bày: Tạ Minh Tùng</a:t>
            </a:r>
          </a:p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SĐT: 0354.610.796</a:t>
            </a:r>
            <a:endParaRPr lang="en-US" sz="3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CHÍNH</a:t>
            </a:r>
          </a:p>
        </p:txBody>
      </p:sp>
      <p:graphicFrame>
        <p:nvGraphicFramePr>
          <p:cNvPr id="19" name="Diagram 18"/>
          <p:cNvGraphicFramePr/>
          <p:nvPr/>
        </p:nvGraphicFramePr>
        <p:xfrm>
          <a:off x="1476322" y="733160"/>
          <a:ext cx="7609805" cy="5092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721413" y="1013860"/>
            <a:ext cx="410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3577" y="1817781"/>
            <a:ext cx="410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360" y="2632031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4267" y="3446281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8387" y="5054123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2231" y="4253639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- ETL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8935" y="996950"/>
            <a:ext cx="11250930" cy="39592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vi-VN" dirty="0"/>
              <a:t>Database nguồn : AdventureWork2012</a:t>
            </a:r>
          </a:p>
          <a:p>
            <a:pPr lvl="0" indent="0">
              <a:spcAft>
                <a:spcPts val="800"/>
              </a:spcAft>
              <a:buFont typeface="Wingdings" panose="05000000000000000000" charset="0"/>
              <a:buNone/>
            </a:pPr>
            <a:r>
              <a:rPr lang="en-US" altLang="vi-VN" dirty="0"/>
              <a:t> </a:t>
            </a:r>
            <a:r>
              <a:rPr lang="en-US" altLang="vi-VN" dirty="0">
                <a:hlinkClick r:id="rId4" action="ppaction://hlinkfile"/>
              </a:rPr>
              <a:t>https://learn.microsoft.com/en-us/sql/samples/adventureworks-install-configure?view=sql-server-ver16&amp;tabs=ssms</a:t>
            </a:r>
          </a:p>
          <a:p>
            <a:pPr marL="285750" indent="-28575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00000"/>
                </a:solidFill>
                <a:sym typeface="+mn-ea"/>
              </a:rPr>
              <a:t>Thiết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kế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Data warehouse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và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 ETL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cho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các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báo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cáo</a:t>
            </a:r>
            <a:r>
              <a:rPr lang="en-US" dirty="0">
                <a:solidFill>
                  <a:srgbClr val="000000"/>
                </a:solidFill>
                <a:sym typeface="+mn-ea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+mn-ea"/>
              </a:rPr>
              <a:t>sau</a:t>
            </a:r>
            <a:r>
              <a:rPr lang="vi-VN" dirty="0">
                <a:solidFill>
                  <a:srgbClr val="000000"/>
                </a:solidFill>
                <a:sym typeface="+mn-ea"/>
              </a:rPr>
              <a:t>:</a:t>
            </a:r>
            <a:endParaRPr lang="vi-VN" b="0" i="0" dirty="0">
              <a:solidFill>
                <a:srgbClr val="000000"/>
              </a:solidFill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 cáo doanh số theo từng nhân viên</a:t>
            </a:r>
            <a:endParaRPr lang="vi-V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 cáo doanh số theo từng khu vực</a:t>
            </a:r>
            <a:endParaRPr lang="vi-V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 cáo số đơn hàng theo nhân viên</a:t>
            </a:r>
            <a:endParaRPr lang="vi-V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 cáo số đơn theo khu vực</a:t>
            </a:r>
            <a:endParaRPr lang="vi-V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 cáo số lượng bán ra theo 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nhóm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sản phẩm </a:t>
            </a:r>
            <a:endParaRPr lang="en-US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lượng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bán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sản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phẩm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khu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vực</a:t>
            </a:r>
            <a:endParaRPr lang="en-US" dirty="0" err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0">
              <a:spcAft>
                <a:spcPts val="800"/>
              </a:spcAft>
              <a:buFont typeface="Wingdings" panose="05000000000000000000" charset="0"/>
              <a:buNone/>
            </a:pPr>
            <a:br>
              <a:rPr lang="vi-VN" dirty="0"/>
            </a:br>
            <a:endParaRPr lang="en-GB" dirty="0"/>
          </a:p>
        </p:txBody>
      </p:sp>
      <p:pic>
        <p:nvPicPr>
          <p:cNvPr id="100" name="Picture 99"/>
          <p:cNvPicPr/>
          <p:nvPr/>
        </p:nvPicPr>
        <p:blipFill>
          <a:blip r:embed="rId5"/>
          <a:stretch>
            <a:fillRect/>
          </a:stretch>
        </p:blipFill>
        <p:spPr>
          <a:xfrm>
            <a:off x="6847840" y="3476625"/>
            <a:ext cx="4988560" cy="2397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Data warehouse</a:t>
            </a:r>
          </a:p>
          <a:p>
            <a:pPr lvl="1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1644110" y="1620196"/>
            <a:ext cx="8769782" cy="84406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1644110" y="2584717"/>
            <a:ext cx="8769782" cy="844062"/>
          </a:xfrm>
          <a:prstGeom prst="roundRect">
            <a:avLst/>
          </a:prstGeom>
          <a:solidFill>
            <a:srgbClr val="00B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Dimension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1626111" y="3527861"/>
            <a:ext cx="8769782" cy="844062"/>
          </a:xfrm>
          <a:prstGeom prst="roundRect">
            <a:avLst/>
          </a:prstGeom>
          <a:solidFill>
            <a:srgbClr val="1EA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Fact</a:t>
            </a:r>
          </a:p>
        </p:txBody>
      </p:sp>
      <p:sp>
        <p:nvSpPr>
          <p:cNvPr id="12" name="Diamond 11"/>
          <p:cNvSpPr/>
          <p:nvPr/>
        </p:nvSpPr>
        <p:spPr>
          <a:xfrm>
            <a:off x="1170107" y="1419404"/>
            <a:ext cx="600701" cy="576148"/>
          </a:xfrm>
          <a:prstGeom prst="diamond">
            <a:avLst/>
          </a:prstGeom>
          <a:solidFill>
            <a:srgbClr val="0053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3" name="Diamond 12"/>
          <p:cNvSpPr/>
          <p:nvPr/>
        </p:nvSpPr>
        <p:spPr>
          <a:xfrm>
            <a:off x="1183954" y="2390744"/>
            <a:ext cx="600701" cy="576148"/>
          </a:xfrm>
          <a:prstGeom prst="diamond">
            <a:avLst/>
          </a:prstGeom>
          <a:solidFill>
            <a:srgbClr val="0091C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4" name="Diamond 13"/>
          <p:cNvSpPr/>
          <p:nvPr/>
        </p:nvSpPr>
        <p:spPr>
          <a:xfrm>
            <a:off x="1183954" y="3362084"/>
            <a:ext cx="600701" cy="576148"/>
          </a:xfrm>
          <a:prstGeom prst="diamond">
            <a:avLst/>
          </a:prstGeom>
          <a:solidFill>
            <a:srgbClr val="17835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6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hay </a:t>
            </a:r>
            <a:r>
              <a:rPr lang="en-US" dirty="0" err="1"/>
              <a:t>bông</a:t>
            </a:r>
            <a:r>
              <a:rPr lang="en-US" dirty="0"/>
              <a:t> </a:t>
            </a:r>
            <a:r>
              <a:rPr lang="en-US" dirty="0" err="1"/>
              <a:t>tuyết</a:t>
            </a:r>
            <a:r>
              <a:rPr lang="en-US" dirty="0"/>
              <a:t>?</a:t>
            </a:r>
          </a:p>
          <a:p>
            <a:pPr lvl="2"/>
            <a:endParaRPr lang="en-US" dirty="0"/>
          </a:p>
          <a:p>
            <a:pPr lvl="1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514673"/>
              </p:ext>
            </p:extLst>
          </p:nvPr>
        </p:nvGraphicFramePr>
        <p:xfrm>
          <a:off x="838200" y="1825625"/>
          <a:ext cx="10722735" cy="3854249"/>
        </p:xfrm>
        <a:graphic>
          <a:graphicData uri="http://schemas.openxmlformats.org/drawingml/2006/table">
            <a:tbl>
              <a:tblPr/>
              <a:tblGrid>
                <a:gridCol w="560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526"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Lược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đồ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hình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sao</a:t>
                      </a:r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Lược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đồ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bông</a:t>
                      </a:r>
                      <a:r>
                        <a:rPr lang="en-US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baseline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tuyết</a:t>
                      </a:r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37"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Bảng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dimension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không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phân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cấp</a:t>
                      </a:r>
                      <a:endParaRPr lang="en-US" sz="1800" dirty="0">
                        <a:effectLst/>
                        <a:latin typeface="+mn-lt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Bảng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dimension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phân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cấp</a:t>
                      </a:r>
                      <a:endParaRPr lang="en-US" sz="1800" dirty="0">
                        <a:effectLst/>
                        <a:latin typeface="Calibri (Body)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415"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Ưu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điểm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</a:t>
                      </a:r>
                    </a:p>
                    <a:p>
                      <a:pPr rtl="0" fontAlgn="base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Cải tiến hiệu năng truy vấn với các dữ liệu thường sử dụng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   - 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Ít bảng và cấu trúc đơn giản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   - 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Xử lý truy vấn đơn giản trên khía cạnh sử dụng join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Ưu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điểm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: </a:t>
                      </a:r>
                    </a:p>
                    <a:p>
                      <a:pPr rtl="0" fontAlgn="base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    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Kích thước bảng dimension 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nhỏ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 (Body)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rtl="0" fontAlgn="base"/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     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Dễ bảo trì (tránh dư thừa)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     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Cho phép các truy vấn phức tạp với các chiều phức tạp, nhiều mức phân lớp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 (Body)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     - 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Dễ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nâng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Calibri" panose="020F0502020204030204" pitchFamily="34" charset="0"/>
                        </a:rPr>
                        <a:t>cấp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 (Body)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554"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Nhược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điểm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Trong một số trường hợp có sự dư thừa lớn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rtl="0" fontAlgn="base"/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 fontAlgn="base"/>
                      <a:endParaRPr lang="vi-V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Nhược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8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điểm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: </a:t>
                      </a:r>
                    </a:p>
                    <a:p>
                      <a:pPr rtl="0" fontAlgn="base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    - 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Số lớn các bảng cần được quản lý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   - 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Truy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r>
                        <a:rPr lang="vi-V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ấn có thể cần kết nối nhiều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bảng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  <a:p>
                      <a:pPr rtl="0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dimension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chí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chí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nào</a:t>
            </a: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lược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bông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tuyết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xem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dimension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lvl="1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088" y="2089369"/>
            <a:ext cx="3343904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dimension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6" y="970294"/>
            <a:ext cx="11353799" cy="22672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doanh số theo từng nhân viên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doanh số theo từng khu vực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Khu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đơn hàng theo nhân viên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viên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đơn theo khu vực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Khu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lượng bán ra theo 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nhóm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sản phẩm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Nhóm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endParaRPr lang="en-US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bán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Khu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 descr="Introduction — Cubes 1.0 documentation">
            <a:extLst>
              <a:ext uri="{FF2B5EF4-FFF2-40B4-BE49-F238E27FC236}">
                <a16:creationId xmlns:a16="http://schemas.microsoft.com/office/drawing/2014/main" id="{D0E739E8-B950-1EDD-61EF-AA27594A6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481" y="3657003"/>
            <a:ext cx="4357437" cy="258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984EE0-89A4-76E5-512F-ADEB0542A7F9}"/>
              </a:ext>
            </a:extLst>
          </p:cNvPr>
          <p:cNvSpPr txBox="1"/>
          <p:nvPr/>
        </p:nvSpPr>
        <p:spPr>
          <a:xfrm>
            <a:off x="360366" y="4947257"/>
            <a:ext cx="66156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Các dimension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tạo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, Khu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Nhóm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(Tuy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nhắc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đến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nhưng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bao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giờ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thiếu</a:t>
            </a:r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GB" b="1" dirty="0">
              <a:highlight>
                <a:srgbClr val="FFFF00"/>
              </a:highlight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FAFE74D-9980-09B5-6F2A-01489EDA809C}"/>
              </a:ext>
            </a:extLst>
          </p:cNvPr>
          <p:cNvSpPr/>
          <p:nvPr/>
        </p:nvSpPr>
        <p:spPr>
          <a:xfrm>
            <a:off x="3019097" y="3310759"/>
            <a:ext cx="504496" cy="15213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dimension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Xem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dimension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38" y="1700360"/>
            <a:ext cx="4499403" cy="33339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671" y="1349446"/>
            <a:ext cx="2095953" cy="12788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854" y="2803960"/>
            <a:ext cx="2292382" cy="11267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236" y="1381118"/>
            <a:ext cx="4465578" cy="36532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(4)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fact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Xem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gộp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fact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khóa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ngoại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dimension</a:t>
            </a:r>
          </a:p>
          <a:p>
            <a:pPr lvl="2"/>
            <a:endParaRPr lang="en-US" dirty="0"/>
          </a:p>
          <a:p>
            <a:pPr lvl="1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1030" name="Picture 6" descr="Power BI Fact and Dimension Tables | SQL Spreads">
            <a:extLst>
              <a:ext uri="{FF2B5EF4-FFF2-40B4-BE49-F238E27FC236}">
                <a16:creationId xmlns:a16="http://schemas.microsoft.com/office/drawing/2014/main" id="{34D5D16A-75EA-83AC-A08F-01542617D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526" y="3124369"/>
            <a:ext cx="40957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fact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8005591" cy="3026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doanh số theo từng nhân viên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doanh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doanh số theo từng khu vực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doanh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đơn hàng theo nhân viên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đơn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hàng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đơn theo khu vực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đơn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hàng</a:t>
            </a:r>
            <a:endParaRPr lang="vi-VN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Báo cáo số lượng bán ra theo </a:t>
            </a:r>
            <a:r>
              <a:rPr lang="en-US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nhóm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sản phẩm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endParaRPr lang="en-US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bán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vực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phẩm</a:t>
            </a:r>
            <a:endParaRPr lang="en-GB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800"/>
              </a:spcAft>
            </a:pP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2D57D8A9-6FEC-A55A-7EEC-D38978B03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301" y="3996764"/>
            <a:ext cx="4707107" cy="201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fact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Xem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gộp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fact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	-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1, 2, 3, 4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gộp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Fact_SalesOrder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        -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5, 6 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gộp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Fact_Product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khóa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ngoại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45" y="2367897"/>
            <a:ext cx="3971925" cy="2609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480773"/>
            <a:ext cx="4330070" cy="24969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DWH (5)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70294"/>
            <a:ext cx="1099343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1"/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228" y="890442"/>
            <a:ext cx="9952581" cy="51208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ETL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1200150" lvl="2" indent="-285750">
              <a:buFontTx/>
              <a:buChar char="-"/>
            </a:pPr>
            <a:endParaRPr lang="en-US" dirty="0"/>
          </a:p>
        </p:txBody>
      </p:sp>
      <p:pic>
        <p:nvPicPr>
          <p:cNvPr id="2050" name="Picture 2" descr="Standard ETL Process | Information Resources and Technology | Rowan  University">
            <a:extLst>
              <a:ext uri="{FF2B5EF4-FFF2-40B4-BE49-F238E27FC236}">
                <a16:creationId xmlns:a16="http://schemas.microsoft.com/office/drawing/2014/main" id="{2EE97D04-2378-61C4-3318-2D965F02E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014" y="3207122"/>
            <a:ext cx="6464274" cy="281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từ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dị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staging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Đổ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stagging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1200150" lvl="2" indent="-285750">
              <a:buFontTx/>
              <a:buChar char="-"/>
            </a:pP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29DA7DE-AFEA-70DA-E711-99FD341DA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6424" y="4137851"/>
            <a:ext cx="514350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725" y="1362924"/>
            <a:ext cx="7341075" cy="45395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55" y="1363582"/>
            <a:ext cx="2063669" cy="44487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9253" y="952100"/>
            <a:ext cx="254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209" y="1470639"/>
            <a:ext cx="7580859" cy="42951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1104" y="1101307"/>
            <a:ext cx="10072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1634339"/>
            <a:ext cx="4877631" cy="43743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1104" y="1101307"/>
            <a:ext cx="10072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Chọn</a:t>
            </a:r>
            <a:r>
              <a:rPr lang="en-US" dirty="0"/>
              <a:t> /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Stagging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029" y="1498600"/>
            <a:ext cx="5617153" cy="4673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1104" y="1101307"/>
            <a:ext cx="10072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Mapping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source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stagging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00" y="1572664"/>
            <a:ext cx="6118433" cy="41644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1104" y="1101307"/>
            <a:ext cx="10072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stagging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Trích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chọn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102" y="1450327"/>
            <a:ext cx="5372100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60500" y="876300"/>
            <a:ext cx="62449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Chạy</a:t>
            </a:r>
            <a:r>
              <a:rPr lang="en-US" dirty="0"/>
              <a:t> debug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extract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Chuyển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đổi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22" y="1414427"/>
            <a:ext cx="10402409" cy="444664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Chuyển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đổi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292609"/>
            <a:ext cx="10515601" cy="4757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399" y="923277"/>
            <a:ext cx="6087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Chạy</a:t>
            </a:r>
            <a:r>
              <a:rPr lang="en-US" dirty="0"/>
              <a:t> debug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transform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Tải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dimension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559" y="1773222"/>
            <a:ext cx="8096250" cy="22572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4" y="1773222"/>
            <a:ext cx="2295525" cy="37909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8559" y="4137503"/>
            <a:ext cx="8111685" cy="6475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0589" y="4881652"/>
            <a:ext cx="8007624" cy="6475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Thiết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kế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đầu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–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Tải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liệu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Fact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00" y="1490662"/>
            <a:ext cx="10138901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Bài</a:t>
            </a:r>
            <a:r>
              <a:rPr 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cs typeface="Arial" panose="020B0604020202020204" pitchFamily="34" charset="0"/>
              </a:rPr>
              <a:t>tập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26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44992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DWH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sao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ETL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Fact_Product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1F1EC-FB6B-63BA-FF63-5758E68B2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075" y="3291216"/>
            <a:ext cx="3895725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995</Words>
  <Application>Microsoft Office PowerPoint</Application>
  <PresentationFormat>Widescreen</PresentationFormat>
  <Paragraphs>153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(Body)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Thuấn - Đào Minh</cp:lastModifiedBy>
  <cp:revision>765</cp:revision>
  <dcterms:created xsi:type="dcterms:W3CDTF">2021-11-04T02:04:00Z</dcterms:created>
  <dcterms:modified xsi:type="dcterms:W3CDTF">2025-10-04T07:32:21Z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BC6A4B95075B4466B765A639762EAA4B</vt:lpwstr>
  </property>
  <property fmtid="{D5CDD505-2E9C-101B-9397-08002B2CF9AE}" pid="3" name="KSOProductBuildVer">
    <vt:lpwstr>1033-11.2.0.11341</vt:lpwstr>
  </property>
</Properties>
</file>